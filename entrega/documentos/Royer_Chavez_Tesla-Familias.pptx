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2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Bricolage Grotesque ExtraBold" panose="020B0604020202020204" charset="0"/>
      <p:regular r:id="rId12"/>
    </p:embeddedFont>
    <p:embeddedFont>
      <p:font typeface="Montserrat" panose="00000500000000000000" pitchFamily="2" charset="0"/>
      <p:regular r:id="rId13"/>
      <p:bold r:id="rId14"/>
      <p:italic r:id="rId15"/>
      <p:boldItalic r:id="rId16"/>
    </p:embeddedFont>
    <p:embeddedFont>
      <p:font typeface="Montserrat Bold" panose="00000800000000000000" charset="0"/>
      <p:regular r:id="rId17"/>
    </p:embeddedFont>
    <p:embeddedFont>
      <p:font typeface="Neue Haas Grotesk Text Pro" panose="020B0504020202020204" pitchFamily="34" charset="0"/>
      <p:regular r:id="rId18"/>
      <p:bold r:id="rId19"/>
      <p: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1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228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359139-99F8-4B6E-8834-95F2B9D91EE4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04937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BE14B8-5058-4271-B378-2217DE83796E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02249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9FB602-DB7A-4B0E-854D-FB51F38BB0AA}" type="datetime1">
              <a:rPr lang="en-US" smtClean="0"/>
              <a:pPr/>
              <a:t>10/18/2026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724984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60963-1EEA-4BDE-8FF9-3FEE13B5D43C}" type="datetime1">
              <a:rPr lang="en-US" smtClean="0"/>
              <a:pPr/>
              <a:t>10/18/2026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06427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1006E0F-42A5-451E-8A36-26756F7C34E0}" type="datetime1">
              <a:rPr lang="en-US" smtClean="0"/>
              <a:pPr/>
              <a:t>10/18/2026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31677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922ABD-C052-4D3A-818B-C58AFC20B321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04166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48FC9B1-6F61-4A8F-9F5E-715654075A93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s-ES"/>
              <a:t>Haga clic para modificar los estilos de texto del patrón</a:t>
            </a:r>
          </a:p>
          <a:p>
            <a:pPr marL="228600" lvl="1" indent="-228600"/>
            <a:r>
              <a:rPr lang="es-ES"/>
              <a:t>Segundo nivel</a:t>
            </a:r>
          </a:p>
          <a:p>
            <a:pPr marL="228600" lvl="2" indent="-228600"/>
            <a:r>
              <a:rPr lang="es-ES"/>
              <a:t>Tercer nivel</a:t>
            </a:r>
          </a:p>
          <a:p>
            <a:pPr marL="228600" lvl="3" indent="-228600"/>
            <a:r>
              <a:rPr lang="es-ES"/>
              <a:t>Cuarto nivel</a:t>
            </a:r>
          </a:p>
          <a:p>
            <a:pPr marL="228600" lvl="4" indent="-228600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343178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BE14B8-5058-4271-B378-2217DE83796E}" type="datetime1">
              <a:rPr lang="en-US" smtClean="0"/>
              <a:pPr/>
              <a:t>10/18/2026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97688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6CB2F34-49A1-4C07-91D5-90BE967306D3}" type="datetime1">
              <a:rPr lang="en-US" smtClean="0"/>
              <a:pPr/>
              <a:t>10/18/2026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572934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4EE7FE5-A250-423F-B9E1-3EE5D07A8055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16644859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48B2456C-66BE-435E-8059-3A9CD55F29F9}" type="datetime1">
              <a:rPr lang="en-US" smtClean="0"/>
              <a:t>10/18/2026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80466518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17409D93-5111-4952-AC4F-FA1AE909A4B8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67798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43E10B2-AFF3-4A4A-BC83-5BB137C878CB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68119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C1935215-257D-4F50-AF56-70E3294947FA}" type="datetime1">
              <a:rPr lang="en-US" smtClean="0"/>
              <a:t>10/18/2026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65705113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2B0E3CDF-6E7C-4C67-B567-8606B07963A0}" type="datetime1">
              <a:rPr lang="en-US" smtClean="0"/>
              <a:t>10/18/2026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235544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5060FE60-4389-4D8B-84BB-900FC000024C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98817894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6709B22-BFE8-4BFE-80D5-4133DC0C2AC6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8386767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BFCE55E5-7E1C-4243-A685-91A6EB8BE97F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238612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AFD96D-C3CB-4F44-8CE3-582861660F11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4166704458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3332489-DC9C-40A3-89C4-AFC56B3B0CAB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87072793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403F4C9-1C82-4616-8D26-0B0587291200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154807522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38C42AE-61C6-458B-86C3-22D39A5E8956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488385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D71BEE-9C65-4D84-970B-0B47E929926B}" type="datetime1">
              <a:rPr lang="en-US" smtClean="0"/>
              <a:pPr/>
              <a:t>10/18/2026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970003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AFCF02-D35E-46A4-B7A1-1A2B81F8D932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070312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57AF51-4D04-4E0C-B33D-81940CAB4B07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938659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DABFCF2-BE01-43CB-85B3-49CC0FE55050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958133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119A0F5-9D15-4E68-95BA-31AD4F5D84D0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666241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97220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2">
    <p:bg>
      <p:bgPr>
        <a:solidFill>
          <a:srgbClr val="090E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7191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F288AF9F-2338-4040-A485-373B8EC8151E}" type="datetime1">
              <a:rPr lang="en-US" smtClean="0"/>
              <a:pPr/>
              <a:t>10/18/2026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91039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  <p:sldLayoutId id="2147483671" r:id="rId19"/>
    <p:sldLayoutId id="2147483672" r:id="rId20"/>
    <p:sldLayoutId id="2147483673" r:id="rId21"/>
    <p:sldLayoutId id="2147483674" r:id="rId22"/>
    <p:sldLayoutId id="2147483675" r:id="rId23"/>
    <p:sldLayoutId id="2147483676" r:id="rId24"/>
    <p:sldLayoutId id="2147483677" r:id="rId25"/>
    <p:sldLayoutId id="2147483678" r:id="rId26"/>
    <p:sldLayoutId id="2147483679" r:id="rId27"/>
    <p:sldLayoutId id="2147483680" r:id="rId28"/>
    <p:sldLayoutId id="2147483681" r:id="rId29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22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github.com/royerchavez01/tesla-familias-android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25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8169" y="306977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00000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Tesla </a:t>
            </a:r>
            <a:r>
              <a:rPr lang="en-US" sz="2950" dirty="0" err="1">
                <a:solidFill>
                  <a:srgbClr val="00000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Familias</a:t>
            </a:r>
            <a:r>
              <a:rPr lang="en-US" sz="2950" dirty="0">
                <a:solidFill>
                  <a:srgbClr val="00000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: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568168" y="82768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0000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Información del estudiante desde el teléfono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568169" y="1657719"/>
            <a:ext cx="10868745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Aplicación Android para la Academia Preuniversitaria Tesla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8169" y="2301256"/>
            <a:ext cx="10868745" cy="1332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650"/>
              </a:spcAft>
              <a:buNone/>
            </a:pPr>
            <a:r>
              <a:rPr lang="en-US" sz="1450" i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Royer Alexander Chavez Malaver</a:t>
            </a:r>
            <a:endParaRPr lang="en-US" sz="1450" i="1" dirty="0"/>
          </a:p>
          <a:p>
            <a:pPr marL="0" indent="0" algn="l">
              <a:spcAft>
                <a:spcPts val="1650"/>
              </a:spcAft>
              <a:buNone/>
            </a:pPr>
            <a:r>
              <a:rPr lang="en-US" sz="1450" i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Desarrollo de Aplicaciones Móviles · Módulo 8</a:t>
            </a:r>
            <a:endParaRPr lang="en-US" sz="1450" i="1" dirty="0"/>
          </a:p>
          <a:p>
            <a:pPr marL="0" indent="0" algn="l">
              <a:buNone/>
            </a:pPr>
            <a:r>
              <a:rPr lang="en-US" sz="1450" i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 de </a:t>
            </a:r>
            <a:r>
              <a:rPr lang="en-US" sz="1450" i="1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octubre</a:t>
            </a:r>
            <a:r>
              <a:rPr lang="en-US" sz="1450" i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2026</a:t>
            </a:r>
            <a:endParaRPr lang="en-US" sz="1450" i="1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7BFE479-EA5A-5244-B8B2-051CBD24E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5479" y="6491051"/>
            <a:ext cx="1256522" cy="36694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83F4E08-345C-5599-B06E-69F6483DB8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3820" y="4845873"/>
            <a:ext cx="4321837" cy="141938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773" y="27617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0000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El </a:t>
            </a:r>
            <a:r>
              <a:rPr lang="en-US" sz="3700" dirty="0" err="1">
                <a:solidFill>
                  <a:srgbClr val="00000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problema</a:t>
            </a:r>
            <a:r>
              <a:rPr lang="en-US" sz="3700" dirty="0">
                <a:solidFill>
                  <a:srgbClr val="00000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: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782773" y="1504377"/>
            <a:ext cx="10868745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El padre necesita consultar la asistencia, las obligaciones y los avisos de su hijo.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82773" y="3105548"/>
            <a:ext cx="10868745" cy="193625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endParaRPr lang="en-US" sz="1450" dirty="0">
              <a:solidFill>
                <a:srgbClr val="000000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información puede requerir consultas a la plataforma web o esperar una comunicación institucional con horas o días de retraso </a:t>
            </a:r>
            <a:r>
              <a:rPr lang="en-US" sz="145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mediante</a:t>
            </a:r>
            <a:r>
              <a:rPr lang="en-US" sz="14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5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una</a:t>
            </a:r>
            <a:r>
              <a:rPr lang="en-US" sz="14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hoja de </a:t>
            </a:r>
            <a:r>
              <a:rPr lang="en-US" sz="145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cálculo</a:t>
            </a:r>
            <a:r>
              <a:rPr lang="en-US" sz="14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5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</a:t>
            </a:r>
            <a:r>
              <a:rPr lang="en-US" sz="14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Excel.</a:t>
            </a:r>
            <a:endParaRPr lang="en-US" sz="1450" dirty="0"/>
          </a:p>
          <a:p>
            <a:pPr marL="285750" indent="-285750" algn="l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propuesta reúne esas consultas en una aplicación </a:t>
            </a:r>
            <a:r>
              <a:rPr lang="en-US" sz="1450" b="1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móvil</a:t>
            </a:r>
            <a:r>
              <a:rPr lang="en-US" sz="14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</a:p>
          <a:p>
            <a:pPr marL="285750" indent="-285750" algn="l">
              <a:lnSpc>
                <a:spcPct val="133000"/>
              </a:lnSpc>
              <a:buFont typeface="Arial" panose="020B0604020202020204" pitchFamily="34" charset="0"/>
              <a:buChar char="•"/>
            </a:pPr>
            <a:endParaRPr lang="en-US" sz="1450" b="1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4EBCE30-DF0C-AFCF-A545-0075A2F2F1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5479" y="6491051"/>
            <a:ext cx="1256522" cy="36694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6" y="553128"/>
            <a:ext cx="5944598" cy="1508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La </a:t>
            </a:r>
            <a:r>
              <a:rPr lang="en-US" sz="2800" dirty="0" err="1">
                <a:solidFill>
                  <a:srgbClr val="00000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propuesta</a:t>
            </a:r>
            <a:r>
              <a:rPr lang="en-US" sz="2800" dirty="0">
                <a:solidFill>
                  <a:srgbClr val="00000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:</a:t>
            </a:r>
          </a:p>
          <a:p>
            <a:pPr marL="0" indent="0" algn="l">
              <a:lnSpc>
                <a:spcPct val="104000"/>
              </a:lnSpc>
              <a:buNone/>
            </a:pPr>
            <a:endParaRPr lang="en-US" dirty="0">
              <a:solidFill>
                <a:srgbClr val="000000"/>
              </a:solidFill>
              <a:latin typeface="Bricolage Grotesque ExtraBold" pitchFamily="34" charset="0"/>
              <a:ea typeface="Bricolage Grotesque ExtraBold" pitchFamily="34" charset="-122"/>
              <a:cs typeface="Bricolage Grotesque ExtraBold" pitchFamily="34" charset="-120"/>
            </a:endParaRPr>
          </a:p>
          <a:p>
            <a:pPr marL="0" indent="0" algn="l">
              <a:lnSpc>
                <a:spcPct val="104000"/>
              </a:lnSpc>
              <a:buNone/>
            </a:pP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61474" y="1074495"/>
            <a:ext cx="5215303" cy="1346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61474" y="1415712"/>
            <a:ext cx="6252509" cy="1424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s-ES" sz="2100" dirty="0">
                <a:solidFill>
                  <a:srgbClr val="00000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Una pantalla de Inicio reúne el estado del día y </a:t>
            </a:r>
          </a:p>
          <a:p>
            <a:pPr algn="l">
              <a:lnSpc>
                <a:spcPct val="104000"/>
              </a:lnSpc>
            </a:pPr>
            <a:r>
              <a:rPr lang="es-ES" sz="2100" dirty="0">
                <a:solidFill>
                  <a:srgbClr val="00000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      los accesos principales.</a:t>
            </a:r>
          </a:p>
          <a:p>
            <a:pPr marL="342900" indent="-342900" algn="l">
              <a:lnSpc>
                <a:spcPct val="104000"/>
              </a:lnSpc>
              <a:buFont typeface="Arial" panose="020B0604020202020204" pitchFamily="34" charset="0"/>
              <a:buChar char="•"/>
            </a:pPr>
            <a:endParaRPr lang="en-US" sz="2100" dirty="0">
              <a:solidFill>
                <a:srgbClr val="000000"/>
              </a:solidFill>
              <a:latin typeface="Bricolage Grotesque ExtraBold" pitchFamily="34" charset="0"/>
              <a:ea typeface="Bricolage Grotesque ExtraBold" pitchFamily="34" charset="-122"/>
              <a:cs typeface="Bricolage Grotesque ExtraBold" pitchFamily="34" charset="-120"/>
            </a:endParaRPr>
          </a:p>
          <a:p>
            <a:pPr marL="342900" indent="-342900" algn="l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-US" sz="2100" dirty="0" err="1">
                <a:solidFill>
                  <a:srgbClr val="00000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Asistencias</a:t>
            </a:r>
            <a:r>
              <a:rPr lang="en-US" sz="2100" dirty="0">
                <a:solidFill>
                  <a:srgbClr val="00000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, obligaciones y avisos.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6119" y="3865104"/>
            <a:ext cx="6103218" cy="150893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endParaRPr lang="en-US" sz="2100" dirty="0">
              <a:solidFill>
                <a:srgbClr val="000000"/>
              </a:solidFill>
              <a:latin typeface="Bricolage Grotesque ExtraBold" pitchFamily="34" charset="0"/>
              <a:ea typeface="Bricolage Grotesque ExtraBold" pitchFamily="34" charset="-122"/>
              <a:cs typeface="Bricolage Grotesque ExtraBold" pitchFamily="34" charset="-120"/>
            </a:endParaRPr>
          </a:p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El modo demo permite probar los recorridos sin una cuenta institucional.</a:t>
            </a:r>
            <a:endParaRPr lang="en-US" sz="21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A68AC95-E73F-0B65-4E61-C0D26D8203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5479" y="6491051"/>
            <a:ext cx="1256522" cy="366949"/>
          </a:xfrm>
          <a:prstGeom prst="rect">
            <a:avLst/>
          </a:prstGeom>
        </p:spPr>
      </p:pic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1019" y="314012"/>
            <a:ext cx="2803472" cy="6229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0929" y="304748"/>
            <a:ext cx="7605448" cy="9642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Asistencias y obligaciones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250929" y="1569101"/>
            <a:ext cx="6168533" cy="1631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02000"/>
              </a:lnSpc>
              <a:spcAft>
                <a:spcPts val="35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Consultar el historial de presencia, tardanza e inasistencia.</a:t>
            </a:r>
            <a:endParaRPr lang="en-US" sz="1600" b="1" dirty="0"/>
          </a:p>
          <a:p>
            <a:pPr marL="285750" indent="-285750" algn="l">
              <a:lnSpc>
                <a:spcPct val="102000"/>
              </a:lnSpc>
              <a:spcAft>
                <a:spcPts val="35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Revisar importe, vencimiento y estado de una obligación.</a:t>
            </a:r>
            <a:endParaRPr lang="en-US" sz="1600" b="1" dirty="0"/>
          </a:p>
          <a:p>
            <a:pPr marL="285750" indent="-285750" algn="l">
              <a:lnSpc>
                <a:spcPct val="102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total pendiente excluye las cuotas pagadas.</a:t>
            </a:r>
            <a:endParaRPr lang="en-US" sz="1600" b="1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045" y="1268963"/>
            <a:ext cx="2441786" cy="542628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C3D2699-3F76-C1C2-DAD5-779424517D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73024" y="6397328"/>
            <a:ext cx="1518976" cy="46067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0726" y="356845"/>
            <a:ext cx="2441786" cy="54262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3461" y="118275"/>
            <a:ext cx="10868745" cy="311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Avisos que se pueden volver a consultar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252075" y="1517053"/>
            <a:ext cx="5769834" cy="1845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02000"/>
              </a:lnSpc>
              <a:spcAft>
                <a:spcPts val="35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historial mantiene los mensajes dentro de la </a:t>
            </a:r>
            <a:r>
              <a:rPr lang="en-US" sz="1600" b="1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aplicación</a:t>
            </a:r>
            <a:r>
              <a:rPr lang="en-US" sz="1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</a:p>
          <a:p>
            <a:pPr marL="285750" indent="-285750" algn="l">
              <a:lnSpc>
                <a:spcPct val="102000"/>
              </a:lnSpc>
              <a:spcAft>
                <a:spcPts val="350"/>
              </a:spcAft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 algn="l">
              <a:lnSpc>
                <a:spcPct val="102000"/>
              </a:lnSpc>
              <a:spcAft>
                <a:spcPts val="35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Abrir un aviso lo marca como </a:t>
            </a:r>
            <a:r>
              <a:rPr lang="en-US" sz="1600" b="1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leído</a:t>
            </a:r>
            <a:r>
              <a:rPr lang="en-US" sz="1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</a:p>
          <a:p>
            <a:pPr marL="285750" indent="-285750" algn="l">
              <a:lnSpc>
                <a:spcPct val="102000"/>
              </a:lnSpc>
              <a:spcAft>
                <a:spcPts val="350"/>
              </a:spcAft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 algn="l">
              <a:lnSpc>
                <a:spcPct val="102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Una notificación local permite probar la apertura desde Android.</a:t>
            </a:r>
            <a:endParaRPr lang="en-US" sz="1600" b="1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092" y="783771"/>
            <a:ext cx="2680135" cy="59559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3E08F03-84D2-56F6-4BF3-A6720432BC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5479" y="6491051"/>
            <a:ext cx="1256522" cy="366949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7307" y="274197"/>
            <a:ext cx="2751232" cy="61139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7404"/>
            <a:ext cx="10868745" cy="552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1423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Administrador de demostración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61474" y="2031498"/>
            <a:ext cx="6831007" cy="2915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 algn="l">
              <a:lnSpc>
                <a:spcPct val="129000"/>
              </a:lnSpc>
              <a:spcAft>
                <a:spcPts val="115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42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evaluador puede cambiar la asistencia y editar la obligación.</a:t>
            </a:r>
            <a:endParaRPr lang="en-US" sz="1400" b="1" dirty="0"/>
          </a:p>
          <a:p>
            <a:pPr marL="285750" indent="-285750" algn="l">
              <a:lnSpc>
                <a:spcPct val="129000"/>
              </a:lnSpc>
              <a:spcAft>
                <a:spcPts val="115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42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También puede generar un aviso y restablecer los datos para repetir la prueba.</a:t>
            </a:r>
            <a:endParaRPr lang="en-US" sz="1400" b="1" dirty="0"/>
          </a:p>
          <a:p>
            <a:pPr marL="285750" indent="-285750" algn="l">
              <a:lnSpc>
                <a:spcPct val="129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42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panel solo modifica información ficticia del dispositivo.</a:t>
            </a:r>
            <a:endParaRPr lang="en-US" sz="1400" b="1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96D29DA-3FFA-FC18-2A6A-9C11C04C94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5479" y="6491051"/>
            <a:ext cx="1256522" cy="366949"/>
          </a:xfrm>
          <a:prstGeom prst="rect">
            <a:avLst/>
          </a:prstGeom>
        </p:spPr>
      </p:pic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5802" y="220117"/>
            <a:ext cx="2904418" cy="64544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3128"/>
            <a:ext cx="10868745" cy="448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Una primera </a:t>
            </a:r>
            <a:r>
              <a:rPr lang="en-US" sz="2800" dirty="0" err="1">
                <a:solidFill>
                  <a:srgbClr val="00000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versión</a:t>
            </a:r>
            <a:r>
              <a:rPr lang="en-US" sz="2800" dirty="0">
                <a:solidFill>
                  <a:srgbClr val="00000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installable: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61475" y="1424843"/>
            <a:ext cx="521530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rgbClr val="00000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Kotlin y Android Studio.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61475" y="1941625"/>
            <a:ext cx="5215303" cy="673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rgbClr val="00000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Datos guardados en el teléfono con SharedPreferences y JSON.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61475" y="2860374"/>
            <a:ext cx="5215303" cy="100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rgbClr val="00000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Instalación, consultas, edición, persistencia y avisos comprobados en el emulador.</a:t>
            </a:r>
            <a:endParaRPr lang="en-US" sz="21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646B1C3-4477-C005-0AB6-E33E9E3F66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5479" y="6491051"/>
            <a:ext cx="1256522" cy="366949"/>
          </a:xfrm>
          <a:prstGeom prst="rect">
            <a:avLst/>
          </a:prstGeom>
        </p:spPr>
      </p:pic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5207" y="334262"/>
            <a:ext cx="2770539" cy="61567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20609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Propuesta para una siguiente etapa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870131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Validar el uso con un grupo de familias de la academia.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661475" y="3620393"/>
            <a:ext cx="10868745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Recoger comentarios sobre la claridad de las consultas.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Conectar SIGAF e incorporar autenticación institucional y avisos remotos.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Estimar el costo y el soporte después de definir esa integración.</a:t>
            </a:r>
            <a:endParaRPr lang="en-US" sz="145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A8010C8-61CB-DD02-0267-77CAEE0F5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3024" y="6397328"/>
            <a:ext cx="1518976" cy="4606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1046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423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Prueba de la </a:t>
            </a:r>
            <a:r>
              <a:rPr lang="en-US" sz="2750" dirty="0" err="1">
                <a:solidFill>
                  <a:srgbClr val="1423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aplicación</a:t>
            </a:r>
            <a:r>
              <a:rPr lang="en-US" sz="2750" dirty="0">
                <a:solidFill>
                  <a:srgbClr val="1423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: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363701"/>
            <a:ext cx="10868745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1423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Tesla Familias 1.0.0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61475" y="1739305"/>
            <a:ext cx="5261439" cy="786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spcAft>
                <a:spcPts val="750"/>
              </a:spcAft>
              <a:buNone/>
            </a:pPr>
            <a:r>
              <a:rPr lang="en-US" sz="1200" dirty="0">
                <a:solidFill>
                  <a:srgbClr val="142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Usuario: demo</a:t>
            </a:r>
            <a:endParaRPr lang="en-US" sz="1200" dirty="0"/>
          </a:p>
          <a:p>
            <a:pPr marL="0" indent="0" algn="l">
              <a:lnSpc>
                <a:spcPct val="117000"/>
              </a:lnSpc>
              <a:spcAft>
                <a:spcPts val="750"/>
              </a:spcAft>
              <a:buNone/>
            </a:pPr>
            <a:r>
              <a:rPr lang="en-US" sz="1200" dirty="0">
                <a:solidFill>
                  <a:srgbClr val="142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Contraseña: tesla123</a:t>
            </a:r>
            <a:endParaRPr lang="en-US" sz="12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142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También se puede usar el acceso directo de demostración.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94995" y="5509097"/>
            <a:ext cx="10868745" cy="51643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142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Código, documentación y APK en el portafolio del proyecto</a:t>
            </a:r>
            <a:endParaRPr lang="en-US" sz="11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100" b="1" u="sng" dirty="0">
                <a:solidFill>
                  <a:srgbClr val="A514B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github.com/royerchavez01/tesla-familias-android</a:t>
            </a:r>
            <a:endParaRPr lang="en-US" sz="11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76A2D59-45D6-1898-7D00-EE82721BCD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5479" y="6491051"/>
            <a:ext cx="1256522" cy="366949"/>
          </a:xfrm>
          <a:prstGeom prst="rect">
            <a:avLst/>
          </a:prstGeom>
        </p:spPr>
      </p:pic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7564" y="1490858"/>
            <a:ext cx="3694715" cy="36948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Quemado de película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Modulo</Template>
  <TotalTime>11</TotalTime>
  <Words>360</Words>
  <Application>Microsoft Office PowerPoint</Application>
  <PresentationFormat>Panorámica</PresentationFormat>
  <Paragraphs>57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Arial</vt:lpstr>
      <vt:lpstr>Montserrat</vt:lpstr>
      <vt:lpstr>Montserrat Bold</vt:lpstr>
      <vt:lpstr>Neue Haas Grotesk Text Pro</vt:lpstr>
      <vt:lpstr>Bricolage Grotesque ExtraBold</vt:lpstr>
      <vt:lpstr>Quemado de película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PC-01</cp:lastModifiedBy>
  <cp:revision>20</cp:revision>
  <dcterms:created xsi:type="dcterms:W3CDTF">2026-10-19T01:50:34Z</dcterms:created>
  <dcterms:modified xsi:type="dcterms:W3CDTF">2026-10-19T02:04:20Z</dcterms:modified>
</cp:coreProperties>
</file>